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 Gateway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Traefik in the ECCS Platform</a:t>
            </a:r>
          </a:p>
          <a:p>
            <a:r>
              <a:t>Architecture, Integrations, and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Introduction to API Gateways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API Gateway?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single entry point for all client requests to backend services</a:t>
            </a:r>
          </a:p>
          <a:p>
            <a:pPr/>
            <a:r>
              <a:t>Acts as a reverse proxy that routes requests to appropriate microservices</a:t>
            </a:r>
          </a:p>
          <a:p>
            <a:pPr/>
            <a:r>
              <a:t>Provides cross-cutting concerns: authentication, rate limiting, monitoring</a:t>
            </a:r>
          </a:p>
          <a:p>
            <a:pPr/>
            <a:r>
              <a:t>Decouples clients from backend service implementations</a:t>
            </a:r>
          </a:p>
          <a:p>
            <a:pPr/>
            <a:r>
              <a:t>Enables microservices architecture by managing service complexity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API Gateways?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Problems They Solve:</a:t>
            </a:r>
          </a:p>
          <a:p>
            <a:pPr lvl="1"/>
            <a:r>
              <a:t>Service discovery - How do clients find services?</a:t>
            </a:r>
          </a:p>
          <a:p>
            <a:pPr lvl="1"/>
            <a:r>
              <a:t>Protocol translation - HTTP, gRPC, WebSocket handling</a:t>
            </a:r>
          </a:p>
          <a:p>
            <a:pPr lvl="1"/>
            <a:r>
              <a:t>Security - Centralized authentication and authorization</a:t>
            </a:r>
          </a:p>
          <a:p>
            <a:pPr lvl="1"/>
            <a:r>
              <a:t>Performance - Load balancing, caching, compression</a:t>
            </a:r>
          </a:p>
          <a:p>
            <a:pPr lvl="1"/>
            <a:r>
              <a:t>Observability - Centralized logging and metrics</a:t>
            </a:r>
          </a:p>
          <a:p>
            <a:pPr/>
            <a:r>
              <a:t>Benefits:</a:t>
            </a:r>
          </a:p>
          <a:p>
            <a:pPr lvl="1"/>
            <a:r>
              <a:t>Simplified client code - Single endpoint instead of many</a:t>
            </a:r>
          </a:p>
          <a:p>
            <a:pPr lvl="1"/>
            <a:r>
              <a:t>Reduced coupling - Services can change without affecting clients</a:t>
            </a:r>
          </a:p>
          <a:p>
            <a:pPr lvl="1"/>
            <a:r>
              <a:t>Better security - Single point to enforce policies</a:t>
            </a:r>
          </a:p>
          <a:p>
            <a:pPr lvl="1"/>
            <a:r>
              <a:t>Improved performance - Optimized routing and caching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in ECCS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Traefik serves as the API Gateway for ECCS platform</a:t>
            </a:r>
          </a:p>
          <a:p>
            <a:pPr/>
            <a:r>
              <a:t>All external traffic flows through Traefik first</a:t>
            </a:r>
          </a:p>
          <a:p>
            <a:pPr/>
            <a:r>
              <a:t>Routes requests to: Auth Service, Email Service, Locations Service</a:t>
            </a:r>
          </a:p>
          <a:p>
            <a:pPr/>
            <a:r>
              <a:t>Enforces security policies before reaching backend services</a:t>
            </a:r>
          </a:p>
          <a:p>
            <a:pPr/>
            <a:r>
              <a:t>Provides observability through Prometheus, Jaeger, and access logs</a:t>
            </a:r>
          </a:p>
          <a:p>
            <a:pPr/>
            <a:r>
              <a:t>Supports both HTTP and HTTPS with TLS termination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Traefik Architecture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Traefik 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EntryPoints:</a:t>
            </a:r>
          </a:p>
          <a:p>
            <a:pPr lvl="1"/>
            <a:r>
              <a:t>Network entry points (ports) that listen for incoming traffic</a:t>
            </a:r>
          </a:p>
          <a:p>
            <a:pPr lvl="1"/>
            <a:r>
              <a:t>Example: web (8800), websecure (8443), traefik (8080)</a:t>
            </a:r>
          </a:p>
          <a:p>
            <a:pPr lvl="1"/>
            <a:r>
              <a:t>Each entrypoint can have specific configurations</a:t>
            </a:r>
          </a:p>
          <a:p>
            <a:pPr/>
            <a:r>
              <a:t>Routers:</a:t>
            </a:r>
          </a:p>
          <a:p>
            <a:pPr lvl="1"/>
            <a:r>
              <a:t>Define routing rules to match incoming requests</a:t>
            </a:r>
          </a:p>
          <a:p>
            <a:pPr lvl="1"/>
            <a:r>
              <a:t>Connect entrypoints to services via middlewares</a:t>
            </a:r>
          </a:p>
          <a:p>
            <a:pPr lvl="1"/>
            <a:r>
              <a:t>Priority-based matching (lower number = higher priority)</a:t>
            </a:r>
          </a:p>
          <a:p>
            <a:pPr/>
            <a:r>
              <a:t>Services:</a:t>
            </a:r>
          </a:p>
          <a:p>
            <a:pPr lvl="1"/>
            <a:r>
              <a:t>Define backend servers and load balancing strategy</a:t>
            </a:r>
          </a:p>
          <a:p>
            <a:pPr lvl="1"/>
            <a:r>
              <a:t>Include health checks for high availability</a:t>
            </a:r>
          </a:p>
          <a:p>
            <a:pPr lvl="1"/>
            <a:r>
              <a:t>Support multiple servers per service</a:t>
            </a:r>
          </a:p>
          <a:p>
            <a:pPr/>
            <a:r>
              <a:t>Middlewares:</a:t>
            </a:r>
          </a:p>
          <a:p>
            <a:pPr lvl="1"/>
            <a:r>
              <a:t>Process requests/responses between router and service</a:t>
            </a:r>
          </a:p>
          <a:p>
            <a:pPr lvl="1"/>
            <a:r>
              <a:t>Examples: authentication, rate limiting, headers, compression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Flow Through Traefik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Client sends request to EntryPoint (e.g., port 8800)</a:t>
            </a:r>
          </a:p>
          <a:p>
            <a:pPr/>
            <a:r>
              <a:t>2. Traefik matches request against Router rules</a:t>
            </a:r>
          </a:p>
          <a:p>
            <a:pPr/>
            <a:r>
              <a:t>3. Selected router's middlewares process the request in order:</a:t>
            </a:r>
          </a:p>
          <a:p>
            <a:pPr/>
            <a:r>
              <a:t>   → Rate limiting (block DDoS attacks first)</a:t>
            </a:r>
          </a:p>
          <a:p>
            <a:pPr/>
            <a:r>
              <a:t>   → Security headers (add protective headers)</a:t>
            </a:r>
          </a:p>
          <a:p>
            <a:pPr/>
            <a:r>
              <a:t>   → JWT authentication (verify user identity)</a:t>
            </a:r>
          </a:p>
          <a:p>
            <a:pPr/>
            <a:r>
              <a:t>   → Retry logic (handle transient failures)</a:t>
            </a:r>
          </a:p>
          <a:p>
            <a:pPr/>
            <a:r>
              <a:t>4. Request forwarded to backend Service</a:t>
            </a:r>
          </a:p>
          <a:p>
            <a:pPr/>
            <a:r>
              <a:t>5. Service performs health check if configured</a:t>
            </a:r>
          </a:p>
          <a:p>
            <a:pPr/>
            <a:r>
              <a:t>6. Load balancer selects healthy backend server</a:t>
            </a:r>
          </a:p>
          <a:p>
            <a:pPr/>
            <a:r>
              <a:t>7. Response flows back through middleware chain</a:t>
            </a:r>
          </a:p>
          <a:p>
            <a:pPr/>
            <a:r>
              <a:t>8. Client receives final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Security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Authentication with ForwardAuth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ForwardAuth delegates authentication to auth-service</a:t>
            </a:r>
          </a:p>
          <a:p>
            <a:pPr/>
            <a:r>
              <a:t>Token Validation Flow:</a:t>
            </a:r>
          </a:p>
          <a:p>
            <a:pPr lvl="1"/>
            <a:r>
              <a:t>1. Client includes 'Authorization: Bearer &lt;token&gt;' header</a:t>
            </a:r>
          </a:p>
          <a:p>
            <a:pPr lvl="1"/>
            <a:r>
              <a:t>2. Traefik forwards request to auth-service:3002/api/auth/verify</a:t>
            </a:r>
          </a:p>
          <a:p>
            <a:pPr lvl="1"/>
            <a:r>
              <a:t>3. Auth service validates token signature with JWT_SECRET</a:t>
            </a:r>
          </a:p>
          <a:p>
            <a:pPr lvl="1"/>
            <a:r>
              <a:t>4. Auth service checks expiration and required claims</a:t>
            </a:r>
          </a:p>
          <a:p>
            <a:pPr lvl="1"/>
            <a:r>
              <a:t>5. Valid: Returns 200 with X-User-Id, X-User-Email headers</a:t>
            </a:r>
          </a:p>
          <a:p>
            <a:pPr lvl="1"/>
            <a:r>
              <a:t>6. Invalid: Returns 401 Unauthorized</a:t>
            </a:r>
          </a:p>
          <a:p>
            <a:pPr lvl="1"/>
            <a:r>
              <a:t>7. Traefik forwards request with user identity to backend</a:t>
            </a:r>
          </a:p>
          <a:p>
            <a:pPr/>
            <a:r>
              <a:t>Security Benefits:</a:t>
            </a:r>
          </a:p>
          <a:p>
            <a:pPr lvl="1"/>
            <a:r>
              <a:t>Centralized authentication logic in auth-service</a:t>
            </a:r>
          </a:p>
          <a:p>
            <a:pPr lvl="1"/>
            <a:r>
              <a:t>Token validation on every request</a:t>
            </a:r>
          </a:p>
          <a:p>
            <a:pPr lvl="1"/>
            <a:r>
              <a:t>User identity propagated to all services</a:t>
            </a:r>
          </a:p>
          <a:p>
            <a:pPr lvl="1"/>
            <a:r>
              <a:t>Short token lifetime (1 hour) limits exposure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Multi-Tier Rate Limiting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Protection against DDoS and brute force attacks</a:t>
            </a:r>
          </a:p>
          <a:p>
            <a:pPr/>
            <a:r>
              <a:t>Rate Limit Tiers:</a:t>
            </a:r>
          </a:p>
          <a:p>
            <a:pPr lvl="1"/>
            <a:r>
              <a:t>Standard (100/min, burst 50) - Normal API operations</a:t>
            </a:r>
          </a:p>
          <a:p>
            <a:pPr lvl="1"/>
            <a:r>
              <a:t>Auth (20/min, burst 10) - Login and registration endpoints</a:t>
            </a:r>
          </a:p>
          <a:p>
            <a:pPr lvl="1"/>
            <a:r>
              <a:t>Strict (10/min, burst 5) - Sensitive operations</a:t>
            </a:r>
          </a:p>
          <a:p>
            <a:pPr lvl="1"/>
            <a:r>
              <a:t>Global (500/min, burst 100) - Last line of defense</a:t>
            </a:r>
          </a:p>
          <a:p>
            <a:pPr/>
            <a:r>
              <a:t>How It Works:</a:t>
            </a:r>
          </a:p>
          <a:p>
            <a:pPr lvl="1"/>
            <a:r>
              <a:t>Token bucket algorithm per source IP</a:t>
            </a:r>
          </a:p>
          <a:p>
            <a:pPr lvl="1"/>
            <a:r>
              <a:t>Burst allows temporary spikes in traffic</a:t>
            </a:r>
          </a:p>
          <a:p>
            <a:pPr lvl="1"/>
            <a:r>
              <a:t>Average rate sustained over time period</a:t>
            </a:r>
          </a:p>
          <a:p>
            <a:pPr lvl="1"/>
            <a:r>
              <a:t>429 Too Many Requests when limit exceeded</a:t>
            </a:r>
          </a:p>
          <a:p>
            <a:pPr/>
            <a:r>
              <a:t>Attack Vectors Prevented:</a:t>
            </a:r>
          </a:p>
          <a:p>
            <a:pPr lvl="1"/>
            <a:r>
              <a:t>Volumetric DDoS attacks</a:t>
            </a:r>
          </a:p>
          <a:p>
            <a:pPr lvl="1"/>
            <a:r>
              <a:t>Credential stuffing and brute force</a:t>
            </a:r>
          </a:p>
          <a:p>
            <a:pPr lvl="1"/>
            <a:r>
              <a:t>API abuse and resource exhaustion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TLS/SSL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TLS Settings:</a:t>
            </a:r>
          </a:p>
          <a:p>
            <a:pPr lvl="1"/>
            <a:r>
              <a:t>Minimum version: TLS 1.2 (prevents downgrade attacks)</a:t>
            </a:r>
          </a:p>
          <a:p>
            <a:pPr lvl="1"/>
            <a:r>
              <a:t>Maximum version: TLS 1.3 (latest security)</a:t>
            </a:r>
          </a:p>
          <a:p>
            <a:pPr lvl="1"/>
            <a:r>
              <a:t>Strong cipher suites only (AES-GCM, ChaCha20-Poly1305)</a:t>
            </a:r>
          </a:p>
          <a:p>
            <a:pPr lvl="1"/>
            <a:r>
              <a:t>ECDHE key exchange (forward secrecy)</a:t>
            </a:r>
          </a:p>
          <a:p>
            <a:pPr/>
            <a:r>
              <a:t>Certificate Management:</a:t>
            </a:r>
          </a:p>
          <a:p>
            <a:pPr lvl="1"/>
            <a:r>
              <a:t>Development: Self-signed certificates</a:t>
            </a:r>
          </a:p>
          <a:p>
            <a:pPr lvl="1"/>
            <a:r>
              <a:t>Production: Let's Encrypt (ACME protocol)</a:t>
            </a:r>
          </a:p>
          <a:p>
            <a:pPr lvl="1"/>
            <a:r>
              <a:t>Automatic renewal with ACME</a:t>
            </a:r>
          </a:p>
          <a:p>
            <a:pPr lvl="1"/>
            <a:r>
              <a:t>Wildcard certificates via DNS-01 challenge</a:t>
            </a:r>
          </a:p>
          <a:p>
            <a:pPr/>
            <a:r>
              <a:t>HSTS (HTTP Strict Transport Security):</a:t>
            </a:r>
          </a:p>
          <a:p>
            <a:pPr lvl="1"/>
            <a:r>
              <a:t>Forces browsers to always use HTTPS</a:t>
            </a:r>
          </a:p>
          <a:p>
            <a:pPr lvl="1"/>
            <a:r>
              <a:t>1-year duration with includeSubDomains</a:t>
            </a:r>
          </a:p>
          <a:p>
            <a:pPr lvl="1"/>
            <a:r>
              <a:t>Preload list submission for maximum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Headers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X-Frame-Options: DENY - Prevents clickjacking attacks</a:t>
            </a:r>
          </a:p>
          <a:p>
            <a:pPr/>
            <a:r>
              <a:t>X-Content-Type-Options: nosniff - Prevents MIME sniffing</a:t>
            </a:r>
          </a:p>
          <a:p>
            <a:pPr/>
            <a:r>
              <a:t>X-XSS-Protection: 1; mode=block - Enables browser XSS filter</a:t>
            </a:r>
          </a:p>
          <a:p>
            <a:pPr/>
            <a:r>
              <a:t>Strict-Transport-Security - Forces HTTPS connections</a:t>
            </a:r>
          </a:p>
          <a:p>
            <a:pPr/>
            <a:r>
              <a:t>Referrer-Policy - Controls referer header leakage</a:t>
            </a:r>
          </a:p>
          <a:p>
            <a:pPr/>
            <a:r>
              <a:t>Permissions-Policy - Disables unnecessary browser features</a:t>
            </a:r>
          </a:p>
          <a:p>
            <a:pPr/>
            <a:r>
              <a:t>Content-Security-Policy (optional) - Controls resource loading</a:t>
            </a:r>
          </a:p>
          <a:p>
            <a:pPr/>
            <a:r>
              <a:t>X-Robots-Tag - Prevents search engine indexing of APIs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Middleware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Middlewares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Middlewares process requests before reaching backend services</a:t>
            </a:r>
          </a:p>
          <a:p>
            <a:pPr/>
            <a:r>
              <a:t>Applied in left-to-right order as defined in router</a:t>
            </a:r>
          </a:p>
          <a:p>
            <a:pPr/>
            <a:r>
              <a:t>Can modify requests, responses, or reject requests entirely</a:t>
            </a:r>
          </a:p>
          <a:p>
            <a:pPr/>
            <a:r>
              <a:t>Types of Middlewares:</a:t>
            </a:r>
          </a:p>
          <a:p>
            <a:pPr lvl="1"/>
            <a:r>
              <a:t>Authentication - Verify user identity</a:t>
            </a:r>
          </a:p>
          <a:p>
            <a:pPr lvl="1"/>
            <a:r>
              <a:t>Authorization - Check permissions</a:t>
            </a:r>
          </a:p>
          <a:p>
            <a:pPr lvl="1"/>
            <a:r>
              <a:t>Rate Limiting - Prevent abuse</a:t>
            </a:r>
          </a:p>
          <a:p>
            <a:pPr lvl="1"/>
            <a:r>
              <a:t>Headers - Add/modify HTTP headers</a:t>
            </a:r>
          </a:p>
          <a:p>
            <a:pPr lvl="1"/>
            <a:r>
              <a:t>Compression - Reduce response size</a:t>
            </a:r>
          </a:p>
          <a:p>
            <a:pPr lvl="1"/>
            <a:r>
              <a:t>Circuit Breaker - Prevent cascading failures</a:t>
            </a:r>
          </a:p>
          <a:p>
            <a:pPr lvl="1"/>
            <a:r>
              <a:t>Retry - Handle transient failures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 Order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Correct order is critical for security and performance</a:t>
            </a:r>
          </a:p>
          <a:p>
            <a:pPr/>
            <a:r>
              <a:t>Recommended Order:</a:t>
            </a:r>
          </a:p>
          <a:p>
            <a:pPr lvl="1"/>
            <a:r>
              <a:t>1. Rate Limiting - Block DDoS before expensive operations</a:t>
            </a:r>
          </a:p>
          <a:p>
            <a:pPr lvl="1"/>
            <a:r>
              <a:t>2. Security Headers - Add headers early in chain</a:t>
            </a:r>
          </a:p>
          <a:p>
            <a:pPr lvl="1"/>
            <a:r>
              <a:t>3. JWT Authentication - Verify identity</a:t>
            </a:r>
          </a:p>
          <a:p>
            <a:pPr lvl="1"/>
            <a:r>
              <a:t>4. Authorization - Check permissions (if needed)</a:t>
            </a:r>
          </a:p>
          <a:p>
            <a:pPr lvl="1"/>
            <a:r>
              <a:t>5. Circuit Breaker - Prevent unhealthy service calls</a:t>
            </a:r>
          </a:p>
          <a:p>
            <a:pPr lvl="1"/>
            <a:r>
              <a:t>6. Compression - Optimize response size</a:t>
            </a:r>
          </a:p>
          <a:p>
            <a:pPr lvl="1"/>
            <a:r>
              <a:t>7. Retry - Handle transient failures</a:t>
            </a:r>
          </a:p>
          <a:p>
            <a:pPr/>
            <a:r>
              <a:t>Why This Order?:</a:t>
            </a:r>
          </a:p>
          <a:p>
            <a:pPr lvl="1"/>
            <a:r>
              <a:t>Rate limiting first protects all downstream operations</a:t>
            </a:r>
          </a:p>
          <a:p>
            <a:pPr lvl="1"/>
            <a:r>
              <a:t>Auth before expensive operations saves resources</a:t>
            </a:r>
          </a:p>
          <a:p>
            <a:pPr lvl="1"/>
            <a:r>
              <a:t>Circuit breaker prevents wasting resources on failed services</a:t>
            </a:r>
          </a:p>
          <a:p>
            <a:pPr lvl="1"/>
            <a:r>
              <a:t>Compression and retry are final optimizations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Prevents cascading failures in microservices</a:t>
            </a:r>
          </a:p>
          <a:p>
            <a:pPr/>
            <a:r>
              <a:t>Opens circuit when error threshold is exceeded</a:t>
            </a:r>
          </a:p>
          <a:p>
            <a:pPr/>
            <a:r>
              <a:t>States:</a:t>
            </a:r>
          </a:p>
          <a:p>
            <a:pPr lvl="1"/>
            <a:r>
              <a:t>Closed: Normal operation, requests flow through</a:t>
            </a:r>
          </a:p>
          <a:p>
            <a:pPr lvl="1"/>
            <a:r>
              <a:t>Open: Circuit open, requests fail fast without calling service</a:t>
            </a:r>
          </a:p>
          <a:p>
            <a:pPr lvl="1"/>
            <a:r>
              <a:t>Half-Open: Testing if service recovered</a:t>
            </a:r>
          </a:p>
          <a:p>
            <a:pPr/>
            <a:r>
              <a:t>Configuration:</a:t>
            </a:r>
          </a:p>
          <a:p>
            <a:pPr lvl="1"/>
            <a:r>
              <a:t>Expression: NetworkErrorRatio() &gt; 0.30</a:t>
            </a:r>
          </a:p>
          <a:p>
            <a:pPr lvl="1"/>
            <a:r>
              <a:t>Opens when 30% of requests fail</a:t>
            </a:r>
          </a:p>
          <a:p>
            <a:pPr lvl="1"/>
            <a:r>
              <a:t>Automatically recovers when service healthy</a:t>
            </a:r>
          </a:p>
          <a:p>
            <a:pPr/>
            <a:r>
              <a:t>Benefits:</a:t>
            </a:r>
          </a:p>
          <a:p>
            <a:pPr lvl="1"/>
            <a:r>
              <a:t>Protects backend services from overload</a:t>
            </a:r>
          </a:p>
          <a:p>
            <a:pPr lvl="1"/>
            <a:r>
              <a:t>Faster failure response (fail fast)</a:t>
            </a:r>
          </a:p>
          <a:p>
            <a:pPr lvl="1"/>
            <a:r>
              <a:t>Automatic recovery without manual intervention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Step-by-Step Integration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Pattern 1: Adding a New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Step 1: Define the Service</a:t>
            </a:r>
          </a:p>
          <a:p>
            <a:pPr lvl="1"/>
            <a:r>
              <a:t>Add service definition in dynamic-config.yml</a:t>
            </a:r>
          </a:p>
          <a:p>
            <a:pPr lvl="1"/>
            <a:r>
              <a:t>Specify backend URL and port</a:t>
            </a:r>
          </a:p>
          <a:p>
            <a:pPr lvl="1"/>
            <a:r>
              <a:t>Configure health check endpoint</a:t>
            </a:r>
          </a:p>
          <a:p>
            <a:pPr lvl="1"/>
            <a:r>
              <a:t>Set up load balancer if multiple instances</a:t>
            </a:r>
          </a:p>
          <a:p>
            <a:pPr/>
            <a:r>
              <a:t>Step 2: Create a Router</a:t>
            </a:r>
          </a:p>
          <a:p>
            <a:pPr lvl="1"/>
            <a:r>
              <a:t>Define routing rule (Host and PathPrefix)</a:t>
            </a:r>
          </a:p>
          <a:p>
            <a:pPr lvl="1"/>
            <a:r>
              <a:t>Select appropriate entrypoint (web/websecure)</a:t>
            </a:r>
          </a:p>
          <a:p>
            <a:pPr lvl="1"/>
            <a:r>
              <a:t>Set priority for route matching</a:t>
            </a:r>
          </a:p>
          <a:p>
            <a:pPr lvl="1"/>
            <a:r>
              <a:t>Link router to service</a:t>
            </a:r>
          </a:p>
          <a:p>
            <a:pPr/>
            <a:r>
              <a:t>Step 3: Apply Middlewares:</a:t>
            </a:r>
          </a:p>
          <a:p>
            <a:pPr lvl="1"/>
            <a:r>
              <a:t>Choose middleware chain for your needs</a:t>
            </a:r>
          </a:p>
          <a:p>
            <a:pPr lvl="1"/>
            <a:r>
              <a:t>Protected routes: rate-limit, security-headers, jwt-auth</a:t>
            </a:r>
          </a:p>
          <a:p>
            <a:pPr lvl="1"/>
            <a:r>
              <a:t>Public routes: rate-limit-auth, security-headers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Adding User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# In dynamic-config.yml</a:t>
            </a:r>
            <a:br/>
            <a:br/>
            <a:r>
              <a:t># 1. Define the service</a:t>
            </a:r>
            <a:br/>
            <a:r>
              <a:t>services:</a:t>
            </a:r>
            <a:br/>
            <a:r>
              <a:t>  user-service:</a:t>
            </a:r>
            <a:br/>
            <a:r>
              <a:t>    loadBalancer:</a:t>
            </a:r>
            <a:br/>
            <a:r>
              <a:t>      healthCheck:</a:t>
            </a:r>
            <a:br/>
            <a:r>
              <a:t>        path: "/health"</a:t>
            </a:r>
            <a:br/>
            <a:r>
              <a:t>        interval: "10s"</a:t>
            </a:r>
            <a:br/>
            <a:r>
              <a:t>        timeout: "5s"</a:t>
            </a:r>
            <a:br/>
            <a:r>
              <a:t>      servers:</a:t>
            </a:r>
            <a:br/>
            <a:r>
              <a:t>        - url: "http://user-service:3005"</a:t>
            </a:r>
            <a:br/>
            <a:r>
              <a:t>      passHostHeader: true</a:t>
            </a:r>
            <a:br/>
            <a:br/>
            <a:r>
              <a:t># 2. Create router (HTTP)</a:t>
            </a:r>
            <a:br/>
            <a:r>
              <a:t>routers:</a:t>
            </a:r>
            <a:br/>
            <a:r>
              <a:t>  user-router:</a:t>
            </a:r>
            <a:br/>
            <a:r>
              <a:t>    rule: "Host(`api.localhost`) &amp;&amp; PathPrefix(`/api/users`)"</a:t>
            </a:r>
            <a:br/>
            <a:r>
              <a:t>    service: user-service</a:t>
            </a:r>
            <a:br/>
            <a:r>
              <a:t>    middlewares:</a:t>
            </a:r>
            <a:br/>
            <a:r>
              <a:t>      - rate-limit</a:t>
            </a:r>
            <a:br/>
            <a:r>
              <a:t>      - security-headers</a:t>
            </a:r>
            <a:br/>
            <a:r>
              <a:t>      - jwt-auth</a:t>
            </a:r>
            <a:br/>
            <a:r>
              <a:t>      - retry</a:t>
            </a:r>
            <a:br/>
            <a:r>
              <a:t>    entryPoints:</a:t>
            </a:r>
            <a:br/>
            <a:r>
              <a:t>      - web</a:t>
            </a:r>
            <a:br/>
            <a:r>
              <a:t>    priority: 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API Gateway 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1: 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Clients need to call multiple services directly</a:t>
            </a:r>
          </a:p>
          <a:p>
            <a:pPr/>
            <a:r>
              <a:t>Solution with API Gateway:</a:t>
            </a:r>
          </a:p>
          <a:p>
            <a:pPr lvl="1"/>
            <a:r>
              <a:t>Single entry point for all service calls</a:t>
            </a:r>
          </a:p>
          <a:p>
            <a:pPr lvl="1"/>
            <a:r>
              <a:t>Client simplified - only knows one endpoint</a:t>
            </a:r>
          </a:p>
          <a:p>
            <a:pPr lvl="1"/>
            <a:r>
              <a:t>Services can change internally without affecting clients</a:t>
            </a:r>
          </a:p>
          <a:p>
            <a:pPr lvl="1"/>
            <a:r>
              <a:t>Centralized authentication and authorization</a:t>
            </a:r>
          </a:p>
          <a:p>
            <a:pPr/>
            <a:r>
              <a:t>ECCS Implementation:</a:t>
            </a:r>
          </a:p>
          <a:p>
            <a:pPr lvl="1"/>
            <a:r>
              <a:t>All services behind Traefik (auth, email, locations)</a:t>
            </a:r>
          </a:p>
          <a:p>
            <a:pPr lvl="1"/>
            <a:r>
              <a:t>Clients call api.localhost with different paths</a:t>
            </a:r>
          </a:p>
          <a:p>
            <a:pPr lvl="1"/>
            <a:r>
              <a:t>JWT authentication enforced at gateway</a:t>
            </a:r>
          </a:p>
          <a:p>
            <a:pPr lvl="1"/>
            <a:r>
              <a:t>Services trust X-User-* headers from gateway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2: API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Need to support multiple API versions simultaneously</a:t>
            </a:r>
          </a:p>
          <a:p>
            <a:pPr/>
            <a:r>
              <a:t>Solution with API Gateway:</a:t>
            </a:r>
          </a:p>
          <a:p>
            <a:pPr lvl="1"/>
            <a:r>
              <a:t>Route requests based on version in URL or header</a:t>
            </a:r>
          </a:p>
          <a:p>
            <a:pPr lvl="1"/>
            <a:r>
              <a:t>Different versions can use different backends</a:t>
            </a:r>
          </a:p>
          <a:p>
            <a:pPr lvl="1"/>
            <a:r>
              <a:t>Gradual migration without breaking clients</a:t>
            </a:r>
          </a:p>
          <a:p>
            <a:pPr/>
            <a:r>
              <a:t>Implementation Example:</a:t>
            </a:r>
          </a:p>
          <a:p>
            <a:pPr lvl="1"/>
            <a:r>
              <a:t>v1: PathPrefix(`/api/v1/users`) -&gt; user-service-v1:3001</a:t>
            </a:r>
          </a:p>
          <a:p>
            <a:pPr lvl="1"/>
            <a:r>
              <a:t>v2: PathPrefix(`/api/v2/users`) -&gt; user-service-v2:3002</a:t>
            </a:r>
          </a:p>
          <a:p>
            <a:pPr lvl="1"/>
            <a:r>
              <a:t>Header-based: X-API-Version: v1 -&gt; route to v1</a:t>
            </a:r>
          </a:p>
          <a:p>
            <a:pPr/>
            <a:r>
              <a:t>Benefits:</a:t>
            </a:r>
          </a:p>
          <a:p>
            <a:pPr lvl="1"/>
            <a:r>
              <a:t>Backward compatibility maintained</a:t>
            </a:r>
          </a:p>
          <a:p>
            <a:pPr lvl="1"/>
            <a:r>
              <a:t>Smooth transition between versions</a:t>
            </a:r>
          </a:p>
          <a:p>
            <a:pPr lvl="1"/>
            <a:r>
              <a:t>Both versions run simultaneously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3: A/B Testing and Canary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Need to test new features with subset of users</a:t>
            </a:r>
          </a:p>
          <a:p>
            <a:pPr/>
            <a:r>
              <a:t>Canary Deployment:</a:t>
            </a:r>
          </a:p>
          <a:p>
            <a:pPr lvl="1"/>
            <a:r>
              <a:t>Route small % of traffic to new version</a:t>
            </a:r>
          </a:p>
          <a:p>
            <a:pPr lvl="1"/>
            <a:r>
              <a:t>Monitor metrics and errors</a:t>
            </a:r>
          </a:p>
          <a:p>
            <a:pPr lvl="1"/>
            <a:r>
              <a:t>Gradually increase traffic if healthy</a:t>
            </a:r>
          </a:p>
          <a:p>
            <a:pPr lvl="1"/>
            <a:r>
              <a:t>Rollback quickly if issues detected</a:t>
            </a:r>
          </a:p>
          <a:p>
            <a:pPr/>
            <a:r>
              <a:t>A/B Testing:</a:t>
            </a:r>
          </a:p>
          <a:p>
            <a:pPr lvl="1"/>
            <a:r>
              <a:t>Split traffic between variants</a:t>
            </a:r>
          </a:p>
          <a:p>
            <a:pPr lvl="1"/>
            <a:r>
              <a:t>Route based on user attributes (headers, cookies)</a:t>
            </a:r>
          </a:p>
          <a:p>
            <a:pPr lvl="1"/>
            <a:r>
              <a:t>Measure performance differences</a:t>
            </a:r>
          </a:p>
          <a:p>
            <a:pPr lvl="1"/>
            <a:r>
              <a:t>Select winning variant</a:t>
            </a:r>
          </a:p>
          <a:p>
            <a:pPr/>
            <a:r>
              <a:t>Traefik Implementation:</a:t>
            </a:r>
          </a:p>
          <a:p>
            <a:pPr lvl="1"/>
            <a:r>
              <a:t>Use weighted load balancing</a:t>
            </a:r>
          </a:p>
          <a:p>
            <a:pPr lvl="1"/>
            <a:r>
              <a:t>service-v1: weight 90, service-v2: weight 10</a:t>
            </a:r>
          </a:p>
          <a:p>
            <a:pPr lvl="1"/>
            <a:r>
              <a:t>Adjust weights to shift traffic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4: Security Perimeter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API Gateway as security checkpoint</a:t>
            </a:r>
          </a:p>
          <a:p>
            <a:pPr/>
            <a:r>
              <a:t>Centralized Security Policies:</a:t>
            </a:r>
          </a:p>
          <a:p>
            <a:pPr lvl="1"/>
            <a:r>
              <a:t>All external traffic must pass through gateway</a:t>
            </a:r>
          </a:p>
          <a:p>
            <a:pPr lvl="1"/>
            <a:r>
              <a:t>Internal services not directly accessible</a:t>
            </a:r>
          </a:p>
          <a:p>
            <a:pPr lvl="1"/>
            <a:r>
              <a:t>WAF (Web Application Firewall) integration</a:t>
            </a:r>
          </a:p>
          <a:p>
            <a:pPr lvl="1"/>
            <a:r>
              <a:t>DDoS protection via rate limiting</a:t>
            </a:r>
          </a:p>
          <a:p>
            <a:pPr/>
            <a:r>
              <a:t>ECCS Security Implementation:</a:t>
            </a:r>
          </a:p>
          <a:p>
            <a:pPr lvl="1"/>
            <a:r>
              <a:t>JWT verification at gateway (ForwardAuth)</a:t>
            </a:r>
          </a:p>
          <a:p>
            <a:pPr lvl="1"/>
            <a:r>
              <a:t>Multi-tier rate limiting prevents attacks</a:t>
            </a:r>
          </a:p>
          <a:p>
            <a:pPr lvl="1"/>
            <a:r>
              <a:t>TLS termination at gateway</a:t>
            </a:r>
          </a:p>
          <a:p>
            <a:pPr lvl="1"/>
            <a:r>
              <a:t>Security headers added to all responses</a:t>
            </a:r>
          </a:p>
          <a:p>
            <a:pPr lvl="1"/>
            <a:r>
              <a:t>Internal services trust gateway (no direct internet access)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Monitoring &amp; Observability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Metrics (Prometheus):</a:t>
            </a:r>
          </a:p>
          <a:p>
            <a:pPr lvl="1"/>
            <a:r>
              <a:t>Request rates, latencies, error rates</a:t>
            </a:r>
          </a:p>
          <a:p>
            <a:pPr lvl="1"/>
            <a:r>
              <a:t>Resource utilization (CPU, memory, connections)</a:t>
            </a:r>
          </a:p>
          <a:p>
            <a:pPr lvl="1"/>
            <a:r>
              <a:t>Custom business metrics</a:t>
            </a:r>
          </a:p>
          <a:p>
            <a:pPr/>
            <a:r>
              <a:t>2. Logs (Access &amp; Application):</a:t>
            </a:r>
          </a:p>
          <a:p>
            <a:pPr lvl="1"/>
            <a:r>
              <a:t>Structured JSON logs</a:t>
            </a:r>
          </a:p>
          <a:p>
            <a:pPr lvl="1"/>
            <a:r>
              <a:t>Request details, response status, latency</a:t>
            </a:r>
          </a:p>
          <a:p>
            <a:pPr lvl="1"/>
            <a:r>
              <a:t>Error details and stack traces</a:t>
            </a:r>
          </a:p>
          <a:p>
            <a:pPr/>
            <a:r>
              <a:t>3. Traces (Distributed Tracing):</a:t>
            </a:r>
          </a:p>
          <a:p>
            <a:pPr lvl="1"/>
            <a:r>
              <a:t>End-to-end request flow visualization</a:t>
            </a:r>
          </a:p>
          <a:p>
            <a:pPr lvl="1"/>
            <a:r>
              <a:t>Service dependencies and latencies</a:t>
            </a:r>
          </a:p>
          <a:p>
            <a:pPr lvl="1"/>
            <a:r>
              <a:t>Bottleneck identification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Prometheus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Traefik exposes /metrics endpoint (port 8080)</a:t>
            </a:r>
          </a:p>
          <a:p>
            <a:pPr/>
            <a:r>
              <a:t>Key Metrics:</a:t>
            </a:r>
          </a:p>
          <a:p>
            <a:pPr lvl="1"/>
            <a:r>
              <a:t>traefik_entrypoint_requests_total - Total requests per entrypoint</a:t>
            </a:r>
          </a:p>
          <a:p>
            <a:pPr lvl="1"/>
            <a:r>
              <a:t>traefik_entrypoint_request_duration_seconds - Request latencies</a:t>
            </a:r>
          </a:p>
          <a:p>
            <a:pPr lvl="1"/>
            <a:r>
              <a:t>traefik_service_requests_total - Requests per backend service</a:t>
            </a:r>
          </a:p>
          <a:p>
            <a:pPr lvl="1"/>
            <a:r>
              <a:t>traefik_service_request_duration_seconds - Backend latencies</a:t>
            </a:r>
          </a:p>
          <a:p>
            <a:pPr lvl="1"/>
            <a:r>
              <a:t>traefik_router_requests_total - Requests per router</a:t>
            </a:r>
          </a:p>
          <a:p>
            <a:pPr/>
            <a:r>
              <a:t>Metric Labels:</a:t>
            </a:r>
          </a:p>
          <a:p>
            <a:pPr lvl="1"/>
            <a:r>
              <a:t>entrypoint: web, websecure, traefik</a:t>
            </a:r>
          </a:p>
          <a:p>
            <a:pPr lvl="1"/>
            <a:r>
              <a:t>service: email-service, auth-service, etc.</a:t>
            </a:r>
          </a:p>
          <a:p>
            <a:pPr lvl="1"/>
            <a:r>
              <a:t>router: email-router, auth-router, etc.</a:t>
            </a:r>
          </a:p>
          <a:p>
            <a:pPr lvl="1"/>
            <a:r>
              <a:t>code: HTTP status code (200, 401, 500, etc.)</a:t>
            </a:r>
          </a:p>
          <a:p>
            <a:pPr lvl="1"/>
            <a:r>
              <a:t>method: GET, POST, PUT, DELETE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Tracing with Jaeger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Traefik sends traces to Jaeger via OpenTelemetry</a:t>
            </a:r>
          </a:p>
          <a:p>
            <a:pPr/>
            <a:r>
              <a:t>Trace Information:</a:t>
            </a:r>
          </a:p>
          <a:p>
            <a:pPr lvl="1"/>
            <a:r>
              <a:t>Complete request path through services</a:t>
            </a:r>
          </a:p>
          <a:p>
            <a:pPr lvl="1"/>
            <a:r>
              <a:t>Time spent in each service</a:t>
            </a:r>
          </a:p>
          <a:p>
            <a:pPr lvl="1"/>
            <a:r>
              <a:t>Errors and exceptions</a:t>
            </a:r>
          </a:p>
          <a:p>
            <a:pPr lvl="1"/>
            <a:r>
              <a:t>Baggage items (metadata propagation)</a:t>
            </a:r>
          </a:p>
          <a:p>
            <a:pPr/>
            <a:r>
              <a:t>Configuration:</a:t>
            </a:r>
          </a:p>
          <a:p>
            <a:pPr lvl="1"/>
            <a:r>
              <a:t>Traefik configured with OTLP endpoint</a:t>
            </a:r>
          </a:p>
          <a:p>
            <a:pPr lvl="1"/>
            <a:r>
              <a:t>Jaeger receives traces on port 4318 (HTTP)</a:t>
            </a:r>
          </a:p>
          <a:p>
            <a:pPr lvl="1"/>
            <a:r>
              <a:t>Traces viewable in Jaeger UI (port 16686)</a:t>
            </a:r>
          </a:p>
          <a:p>
            <a:pPr/>
            <a:r>
              <a:t>Use Cases:</a:t>
            </a:r>
          </a:p>
          <a:p>
            <a:pPr lvl="1"/>
            <a:r>
              <a:t>Debug slow requests</a:t>
            </a:r>
          </a:p>
          <a:p>
            <a:pPr lvl="1"/>
            <a:r>
              <a:t>Identify bottlenecks</a:t>
            </a:r>
          </a:p>
          <a:p>
            <a:pPr lvl="1"/>
            <a:r>
              <a:t>Understand service dependencies</a:t>
            </a:r>
          </a:p>
          <a:p>
            <a:pPr lvl="1"/>
            <a:r>
              <a:t>Root cause analysis for errors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Best Practices &amp; Production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✓ Use TLS 1.2+ minimum, prefer TLS 1.3</a:t>
            </a:r>
          </a:p>
          <a:p>
            <a:pPr/>
            <a:r>
              <a:t>✓ Enable HSTS with preload</a:t>
            </a:r>
          </a:p>
          <a:p>
            <a:pPr/>
            <a:r>
              <a:t>✓ Implement rate limiting on all endpoints</a:t>
            </a:r>
          </a:p>
          <a:p>
            <a:pPr/>
            <a:r>
              <a:t>✓ Use short JWT token lifetimes (1 hour or less)</a:t>
            </a:r>
          </a:p>
          <a:p>
            <a:pPr/>
            <a:r>
              <a:t>✓ Rotate JWT secrets regularly</a:t>
            </a:r>
          </a:p>
          <a:p>
            <a:pPr/>
            <a:r>
              <a:t>✓ Restrict CORS origins in production (no '*')</a:t>
            </a:r>
          </a:p>
          <a:p>
            <a:pPr/>
            <a:r>
              <a:t>✓ Disable dashboard insecure mode in production</a:t>
            </a:r>
          </a:p>
          <a:p>
            <a:pPr/>
            <a:r>
              <a:t>✓ Use IP whitelisting for admin endpoints</a:t>
            </a:r>
          </a:p>
          <a:p>
            <a:pPr/>
            <a:r>
              <a:t>✓ Enable security headers on all routes</a:t>
            </a:r>
          </a:p>
          <a:p>
            <a:pPr/>
            <a:r>
              <a:t>✓ Keep Traefik updated for security patches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✓ Enable compression for text responses</a:t>
            </a:r>
          </a:p>
          <a:p>
            <a:pPr/>
            <a:r>
              <a:t>✓ Configure appropriate health check intervals</a:t>
            </a:r>
          </a:p>
          <a:p>
            <a:pPr/>
            <a:r>
              <a:t>✓ Use connection pooling to backends</a:t>
            </a:r>
          </a:p>
          <a:p>
            <a:pPr/>
            <a:r>
              <a:t>✓ Set reasonable timeouts (idle, response, read)</a:t>
            </a:r>
          </a:p>
          <a:p>
            <a:pPr/>
            <a:r>
              <a:t>✓ Enable HTTP/2 for improved performance</a:t>
            </a:r>
          </a:p>
          <a:p>
            <a:pPr/>
            <a:r>
              <a:t>✓ Use load balancing for high-traffic services</a:t>
            </a:r>
          </a:p>
          <a:p>
            <a:pPr/>
            <a:r>
              <a:t>✓ Configure circuit breakers to prevent cascade failures</a:t>
            </a:r>
          </a:p>
          <a:p>
            <a:pPr/>
            <a:r>
              <a:t>✓ Monitor and optimize middleware chain</a:t>
            </a:r>
          </a:p>
          <a:p>
            <a:pPr/>
            <a:r>
              <a:t>✓ Use CDN for static assets</a:t>
            </a:r>
          </a:p>
          <a:p>
            <a:pPr/>
            <a:r>
              <a:t>✓ Implement caching where appropriate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Deployment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□ Replace self-signed certificates with CA-signed</a:t>
            </a:r>
          </a:p>
          <a:p>
            <a:pPr/>
            <a:r>
              <a:t>□ Enable HTTPS redirect (sslRedirect: true)</a:t>
            </a:r>
          </a:p>
          <a:p>
            <a:pPr/>
            <a:r>
              <a:t>□ Disable insecure API mode (api.insecure: false)</a:t>
            </a:r>
          </a:p>
          <a:p>
            <a:pPr/>
            <a:r>
              <a:t>□ Configure specific CORS origins (not '*')</a:t>
            </a:r>
          </a:p>
          <a:p>
            <a:pPr/>
            <a:r>
              <a:t>□ Set strong JWT_SECRET (32+ random characters)</a:t>
            </a:r>
          </a:p>
          <a:p>
            <a:pPr/>
            <a:r>
              <a:t>□ Review and adjust rate limits for production traffic</a:t>
            </a:r>
          </a:p>
          <a:p>
            <a:pPr/>
            <a:r>
              <a:t>□ Enable Let's Encrypt for automatic certificate renewal</a:t>
            </a:r>
          </a:p>
          <a:p>
            <a:pPr/>
            <a:r>
              <a:t>□ Configure log aggregation (ELK, Datadog, etc.)</a:t>
            </a:r>
          </a:p>
          <a:p>
            <a:pPr/>
            <a:r>
              <a:t>□ Set up monitoring and alerting</a:t>
            </a:r>
          </a:p>
          <a:p>
            <a:pPr/>
            <a:r>
              <a:t>□ Test disaster recovery procedures</a:t>
            </a:r>
          </a:p>
          <a:p>
            <a:pPr/>
            <a:r>
              <a:t>□ Document architecture and runbooks</a:t>
            </a:r>
          </a:p>
          <a:p>
            <a:pPr/>
            <a:r>
              <a:t>□ Configure backup for configuration files</a:t>
            </a:r>
          </a:p>
          <a:p>
            <a:pPr/>
            <a:r>
              <a:t>□ Set up staging environment</a:t>
            </a:r>
          </a:p>
          <a:p>
            <a:pPr/>
            <a:r>
              <a:t>□ Load test with expected traffic</a:t>
            </a:r>
          </a:p>
          <a:p>
            <a:pPr/>
            <a:r>
              <a:t>□ Security audit of configuration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Traefik logs:</a:t>
            </a:r>
          </a:p>
          <a:p>
            <a:pPr lvl="1"/>
            <a:r>
              <a:t>podman logs eccs-traefik</a:t>
            </a:r>
          </a:p>
          <a:p>
            <a:pPr lvl="1"/>
            <a:r>
              <a:t>Look for configuration errors on startup</a:t>
            </a:r>
          </a:p>
          <a:p>
            <a:pPr lvl="1"/>
            <a:r>
              <a:t>Check for middleware chain issues</a:t>
            </a:r>
          </a:p>
          <a:p>
            <a:pPr/>
            <a:r>
              <a:t>Verify routing:</a:t>
            </a:r>
          </a:p>
          <a:p>
            <a:pPr lvl="1"/>
            <a:r>
              <a:t>Visit Traefik dashboard at localhost:8080</a:t>
            </a:r>
          </a:p>
          <a:p>
            <a:pPr lvl="1"/>
            <a:r>
              <a:t>Check routers, services, and middlewares</a:t>
            </a:r>
          </a:p>
          <a:p>
            <a:pPr lvl="1"/>
            <a:r>
              <a:t>Verify entrypoints are listening</a:t>
            </a:r>
          </a:p>
          <a:p>
            <a:pPr/>
            <a:r>
              <a:t>Test connectivity:</a:t>
            </a:r>
          </a:p>
          <a:p>
            <a:pPr lvl="1"/>
            <a:r>
              <a:t>curl -v http://api.localhost:8800/api/auth/verify</a:t>
            </a:r>
          </a:p>
          <a:p>
            <a:pPr lvl="1"/>
            <a:r>
              <a:t>Check if backend services are healthy</a:t>
            </a:r>
          </a:p>
          <a:p>
            <a:pPr lvl="1"/>
            <a:r>
              <a:t>Verify network connectivity</a:t>
            </a:r>
          </a:p>
          <a:p>
            <a:pPr/>
            <a:r>
              <a:t>Common issues:</a:t>
            </a:r>
          </a:p>
          <a:p>
            <a:pPr lvl="1"/>
            <a:r>
              <a:t>404: Router rule doesn't match request</a:t>
            </a:r>
          </a:p>
          <a:p>
            <a:pPr lvl="1"/>
            <a:r>
              <a:t>502: Backend service unreachable</a:t>
            </a:r>
          </a:p>
          <a:p>
            <a:pPr lvl="1"/>
            <a:r>
              <a:t>429: Rate limit exceeded</a:t>
            </a:r>
          </a:p>
          <a:p>
            <a:pPr lvl="1"/>
            <a:r>
              <a:t>401: JWT token invalid or expired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 1: Load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 Balancing Strategies:</a:t>
            </a:r>
          </a:p>
          <a:p>
            <a:pPr lvl="1"/>
            <a:r>
              <a:t>Round Robin (default) - Distribute evenly</a:t>
            </a:r>
          </a:p>
          <a:p>
            <a:pPr lvl="1"/>
            <a:r>
              <a:t>Weighted Round Robin - Control distribution ratio</a:t>
            </a:r>
          </a:p>
          <a:p>
            <a:pPr lvl="1"/>
            <a:r>
              <a:t>Least Connections - Send to least busy server</a:t>
            </a:r>
          </a:p>
          <a:p>
            <a:pPr/>
            <a:r>
              <a:t>Health Checks:</a:t>
            </a:r>
          </a:p>
          <a:p>
            <a:pPr lvl="1"/>
            <a:r>
              <a:t>Periodic checks to backend /health endpoint</a:t>
            </a:r>
          </a:p>
          <a:p>
            <a:pPr lvl="1"/>
            <a:r>
              <a:t>Removes unhealthy instances from rotation</a:t>
            </a:r>
          </a:p>
          <a:p>
            <a:pPr lvl="1"/>
            <a:r>
              <a:t>Configurable interval and timeout</a:t>
            </a:r>
          </a:p>
          <a:p>
            <a:pPr/>
            <a:r>
              <a:t>Sticky Sessions (Optional):</a:t>
            </a:r>
          </a:p>
          <a:p>
            <a:pPr lvl="1"/>
            <a:r>
              <a:t>Route user to same backend consistently</a:t>
            </a:r>
          </a:p>
          <a:p>
            <a:pPr lvl="1"/>
            <a:r>
              <a:t>Uses cookie or HTTP header</a:t>
            </a:r>
          </a:p>
          <a:p>
            <a:pPr lvl="1"/>
            <a:r>
              <a:t>Useful for stateful applications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 2: Blue-Green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Zero-downtime deployment strategy</a:t>
            </a:r>
          </a:p>
          <a:p>
            <a:pPr/>
            <a:r>
              <a:t>Process:</a:t>
            </a:r>
          </a:p>
          <a:p>
            <a:pPr lvl="1"/>
            <a:r>
              <a:t>1. Blue (current) environment serving traffic</a:t>
            </a:r>
          </a:p>
          <a:p>
            <a:pPr lvl="1"/>
            <a:r>
              <a:t>2. Deploy Green (new) environment in parallel</a:t>
            </a:r>
          </a:p>
          <a:p>
            <a:pPr lvl="1"/>
            <a:r>
              <a:t>3. Test Green environment thoroughly</a:t>
            </a:r>
          </a:p>
          <a:p>
            <a:pPr lvl="1"/>
            <a:r>
              <a:t>4. Switch Traefik routing from Blue to Green</a:t>
            </a:r>
          </a:p>
          <a:p>
            <a:pPr lvl="1"/>
            <a:r>
              <a:t>5. Keep Blue for quick rollback if needed</a:t>
            </a:r>
          </a:p>
          <a:p>
            <a:pPr/>
            <a:r>
              <a:t>Implementation:</a:t>
            </a:r>
          </a:p>
          <a:p>
            <a:pPr lvl="1"/>
            <a:r>
              <a:t>Two identical service deployments</a:t>
            </a:r>
          </a:p>
          <a:p>
            <a:pPr lvl="1"/>
            <a:r>
              <a:t>Update router service reference</a:t>
            </a:r>
          </a:p>
          <a:p>
            <a:pPr lvl="1"/>
            <a:r>
              <a:t>Atomic switch at API Gateway level</a:t>
            </a:r>
          </a:p>
          <a:p>
            <a:pPr lvl="1"/>
            <a:r>
              <a:t>Monitor metrics after switch</a:t>
            </a:r>
          </a:p>
          <a:p>
            <a:pPr/>
            <a:r>
              <a:t>Benefits:</a:t>
            </a:r>
          </a:p>
          <a:p>
            <a:pPr lvl="1"/>
            <a:r>
              <a:t>Zero downtime</a:t>
            </a:r>
          </a:p>
          <a:p>
            <a:pPr lvl="1"/>
            <a:r>
              <a:t>Instant rollback capability</a:t>
            </a:r>
          </a:p>
          <a:p>
            <a:pPr lvl="1"/>
            <a:r>
              <a:t>Full environment testing before switch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Topic 3: Request Mirroring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Send copy of requests to another service</a:t>
            </a:r>
          </a:p>
          <a:p>
            <a:pPr/>
            <a:r>
              <a:t>Use Cases:</a:t>
            </a:r>
          </a:p>
          <a:p>
            <a:pPr lvl="1"/>
            <a:r>
              <a:t>Testing new version without affecting production</a:t>
            </a:r>
          </a:p>
          <a:p>
            <a:pPr lvl="1"/>
            <a:r>
              <a:t>Analytics and monitoring</a:t>
            </a:r>
          </a:p>
          <a:p>
            <a:pPr lvl="1"/>
            <a:r>
              <a:t>Audit logging to separate system</a:t>
            </a:r>
          </a:p>
          <a:p>
            <a:pPr lvl="1"/>
            <a:r>
              <a:t>Performance comparison</a:t>
            </a:r>
          </a:p>
          <a:p>
            <a:pPr/>
            <a:r>
              <a:t>Configuration:</a:t>
            </a:r>
          </a:p>
          <a:p>
            <a:pPr lvl="1"/>
            <a:r>
              <a:t>Mirror middleware duplicates requests</a:t>
            </a:r>
          </a:p>
          <a:p>
            <a:pPr lvl="1"/>
            <a:r>
              <a:t>Mirror responses are discarded</a:t>
            </a:r>
          </a:p>
          <a:p>
            <a:pPr lvl="1"/>
            <a:r>
              <a:t>Original request continues normally</a:t>
            </a:r>
          </a:p>
          <a:p>
            <a:pPr lvl="1"/>
            <a:r>
              <a:t>Mirrors don't affect response to client</a:t>
            </a:r>
          </a:p>
          <a:p>
            <a:pPr/>
            <a:r>
              <a:t>Important Notes:</a:t>
            </a:r>
          </a:p>
          <a:p>
            <a:pPr lvl="1"/>
            <a:r>
              <a:t>Mirroring happens after middlewares</a:t>
            </a:r>
          </a:p>
          <a:p>
            <a:pPr lvl="1"/>
            <a:r>
              <a:t>Doubles backend load</a:t>
            </a:r>
          </a:p>
          <a:p>
            <a:pPr lvl="1"/>
            <a:r>
              <a:t>Only for idempotent operations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Traefik vs. Other API Gateways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Traefik Strengths:</a:t>
            </a:r>
          </a:p>
          <a:p>
            <a:pPr lvl="1"/>
            <a:r>
              <a:t>Native container integration (Docker, K8s)</a:t>
            </a:r>
          </a:p>
          <a:p>
            <a:pPr lvl="1"/>
            <a:r>
              <a:t>Automatic service discovery</a:t>
            </a:r>
          </a:p>
          <a:p>
            <a:pPr lvl="1"/>
            <a:r>
              <a:t>Easy configuration and setup</a:t>
            </a:r>
          </a:p>
          <a:p>
            <a:pPr lvl="1"/>
            <a:r>
              <a:t>Built-in Let's Encrypt support</a:t>
            </a:r>
          </a:p>
          <a:p>
            <a:pPr lvl="1"/>
            <a:r>
              <a:t>Excellent documentation</a:t>
            </a:r>
          </a:p>
          <a:p>
            <a:pPr/>
            <a:r>
              <a:t>NGINX Strengths:</a:t>
            </a:r>
          </a:p>
          <a:p>
            <a:pPr lvl="1"/>
            <a:r>
              <a:t>Battle-tested, mature</a:t>
            </a:r>
          </a:p>
          <a:p>
            <a:pPr lvl="1"/>
            <a:r>
              <a:t>Extremely high performance</a:t>
            </a:r>
          </a:p>
          <a:p>
            <a:pPr lvl="1"/>
            <a:r>
              <a:t>Rich ecosystem of modules</a:t>
            </a:r>
          </a:p>
          <a:p>
            <a:pPr lvl="1"/>
            <a:r>
              <a:t>Advanced caching capabilities</a:t>
            </a:r>
          </a:p>
          <a:p>
            <a:pPr/>
            <a:r>
              <a:t>Kong Strengths:</a:t>
            </a:r>
          </a:p>
          <a:p>
            <a:pPr lvl="1"/>
            <a:r>
              <a:t>Plugin marketplace</a:t>
            </a:r>
          </a:p>
          <a:p>
            <a:pPr lvl="1"/>
            <a:r>
              <a:t>API management features</a:t>
            </a:r>
          </a:p>
          <a:p>
            <a:pPr lvl="1"/>
            <a:r>
              <a:t>Enterprise support options</a:t>
            </a:r>
          </a:p>
          <a:p>
            <a:pPr lvl="1"/>
            <a:r>
              <a:t>Developer portal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✓ API Gateway is essential for microservices architecture</a:t>
            </a:r>
          </a:p>
          <a:p>
            <a:pPr/>
            <a:r>
              <a:t>✓ Traefik provides modern, cloud-native gateway features</a:t>
            </a:r>
          </a:p>
          <a:p>
            <a:pPr/>
            <a:r>
              <a:t>✓ Security: JWT auth, rate limiting, TLS encryption</a:t>
            </a:r>
          </a:p>
          <a:p>
            <a:pPr/>
            <a:r>
              <a:t>✓ Flexibility: Multiple integration patterns available</a:t>
            </a:r>
          </a:p>
          <a:p>
            <a:pPr/>
            <a:r>
              <a:t>✓ Observability: Metrics, logs, and distributed tracing</a:t>
            </a:r>
          </a:p>
          <a:p>
            <a:pPr/>
            <a:r>
              <a:t>✓ Production-ready: Best practices and checklists provided</a:t>
            </a:r>
          </a:p>
          <a:p>
            <a:pPr/>
            <a:r>
              <a:t>✓ ECCS uses Traefik to protect and route all services</a:t>
            </a:r>
          </a:p>
          <a:p>
            <a:pPr/>
            <a:r>
              <a:t>✓ Extensible: Custom middlewares and plugins supported</a:t>
            </a:r>
          </a:p>
          <a:p>
            <a:pPr/>
            <a:r>
              <a:t>✓ Well-documented: Comprehensive configuration examples</a:t>
            </a:r>
          </a:p>
          <a:p>
            <a:pPr/>
            <a:r>
              <a:t>✓ Future-proof: Supports latest standards and trends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Review ECCS Traefik configuration</a:t>
            </a:r>
          </a:p>
          <a:p>
            <a:pPr/>
            <a:r>
              <a:t>   → infrastructure/traefik/traefik.yml</a:t>
            </a:r>
          </a:p>
          <a:p>
            <a:pPr/>
            <a:r>
              <a:t>   → infrastructure/traefik/dynamic-config.yml</a:t>
            </a:r>
          </a:p>
          <a:p>
            <a:pPr/>
          </a:p>
          <a:p>
            <a:pPr/>
            <a:r>
              <a:t>2. Explore Traefik dashboard</a:t>
            </a:r>
          </a:p>
          <a:p>
            <a:pPr/>
            <a:r>
              <a:t>   → http://localhost:8080/dashboard/</a:t>
            </a:r>
          </a:p>
          <a:p>
            <a:pPr/>
          </a:p>
          <a:p>
            <a:pPr/>
            <a:r>
              <a:t>3. Check out documentation</a:t>
            </a:r>
          </a:p>
          <a:p>
            <a:pPr/>
            <a:r>
              <a:t>   → docs/TRAEFIK_SECURITY.md</a:t>
            </a:r>
          </a:p>
          <a:p>
            <a:pPr/>
            <a:r>
              <a:t>   → docs/API.md</a:t>
            </a:r>
          </a:p>
          <a:p>
            <a:pPr/>
          </a:p>
          <a:p>
            <a:pPr/>
            <a:r>
              <a:t>4. Experiment with adding new services</a:t>
            </a:r>
          </a:p>
          <a:p>
            <a:pPr/>
            <a:r>
              <a:t>   → Follow integration patterns from this presentation</a:t>
            </a:r>
          </a:p>
          <a:p>
            <a:pPr/>
          </a:p>
          <a:p>
            <a:pPr/>
            <a:r>
              <a:t>5. Set up monitoring</a:t>
            </a:r>
          </a:p>
          <a:p>
            <a:pPr/>
            <a:r>
              <a:t>   → Configure Prometheus and Grafana</a:t>
            </a:r>
          </a:p>
          <a:p>
            <a:pPr/>
            <a:r>
              <a:t>   → Set up alerting rules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Official Documentation:</a:t>
            </a:r>
          </a:p>
          <a:p>
            <a:pPr lvl="1"/>
            <a:r>
              <a:t>Traefik: https://doc.traefik.io/traefik/</a:t>
            </a:r>
          </a:p>
          <a:p>
            <a:pPr lvl="1"/>
            <a:r>
              <a:t>Prometheus: https://prometheus.io/docs/</a:t>
            </a:r>
          </a:p>
          <a:p>
            <a:pPr lvl="1"/>
            <a:r>
              <a:t>Jaeger: https://www.jaegertracing.io/docs/</a:t>
            </a:r>
          </a:p>
          <a:p>
            <a:pPr/>
            <a:r>
              <a:t>ECCS Documentation:</a:t>
            </a:r>
          </a:p>
          <a:p>
            <a:pPr lvl="1"/>
            <a:r>
              <a:t>README.md - Project overview</a:t>
            </a:r>
          </a:p>
          <a:p>
            <a:pPr lvl="1"/>
            <a:r>
              <a:t>docs/TRAEFIK_SECURITY.md - Security deep dive</a:t>
            </a:r>
          </a:p>
          <a:p>
            <a:pPr lvl="1"/>
            <a:r>
              <a:t>docs/API.md - API endpoint documentation</a:t>
            </a:r>
          </a:p>
          <a:p>
            <a:pPr lvl="1"/>
            <a:r>
              <a:t>docs/DEPLOYMENT.md - Deployment guide</a:t>
            </a:r>
          </a:p>
          <a:p>
            <a:pPr/>
            <a:r>
              <a:t>Community:</a:t>
            </a:r>
          </a:p>
          <a:p>
            <a:pPr lvl="1"/>
            <a:r>
              <a:t>Traefik Community Forum</a:t>
            </a:r>
          </a:p>
          <a:p>
            <a:pPr lvl="1"/>
            <a:r>
              <a:t>Traefik GitHub Discussions</a:t>
            </a:r>
          </a:p>
          <a:p>
            <a:pPr lvl="1"/>
            <a:r>
              <a:t>Stack Overflow: [traefik] tag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For more information, see:</a:t>
            </a:r>
          </a:p>
          <a:p>
            <a:r>
              <a:t>README.md and docs/ directory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